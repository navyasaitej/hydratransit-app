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Trebuchet MS"/>
              </a:defRPr>
            </a:pPr>
            <a:r>
              <a:t>HydraTransit 🚇</a:t>
            </a:r>
          </a:p>
          <a:p>
            <a:pPr>
              <a:spcBef>
                <a:spcPts val="1000"/>
              </a:spcBef>
              <a:defRPr sz="2200" b="0">
                <a:solidFill>
                  <a:srgbClr val="EA580C"/>
                </a:solidFill>
                <a:latin typeface="Arial"/>
              </a:defRPr>
            </a:pPr>
            <a:r>
              <a:t>Next-Gen Multi-Modal Green Mobility &amp; Unified Ticketing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9144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A Premium CivicTech Solution for Hyderabad, Telangana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Unified Routing • Smart BLE Radars • Eco-Carbon Rewards Ledger • Widescreen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The Urban Gridlock &amp; Carbon Congestion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Fragmented Commuter Journey</a:t>
            </a:r>
          </a:p>
          <a:p>
            <a:pPr>
              <a:spcAft>
                <a:spcPts val="1800"/>
              </a:spcAft>
              <a:defRPr sz="1200" i="1">
                <a:solidFill>
                  <a:srgbClr val="64748B"/>
                </a:solidFill>
                <a:latin typeface="Arial"/>
              </a:defRPr>
            </a:pPr>
            <a:r>
              <a:t>Three disconnected transit authorities, zero coordination.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Disjointed Ticketing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Passengers must juggle separate applications and paper tickets for Metro, TSRTC buses, and last-mile electric autos.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Crowded Commutes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Zero live visibility into coach crowding levels leads to high-stress experiences on Metro platforms and buses.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Environmental Apathy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No financial or cultural incentives to choose green mobility over highly polluting individual vehicles.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8F0"/>
                </a:solidFill>
                <a:latin typeface="Arial"/>
              </a:defRPr>
            </a:pPr>
            <a:r>
              <a:t>HYDERABAD MOBILITY METRIC</a:t>
            </a:r>
          </a:p>
          <a:p>
            <a:pPr>
              <a:spcBef>
                <a:spcPts val="1000"/>
              </a:spcBef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120 Hrs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lost by the average Hyderabad commuter to road traffic gridlock annually, contributing to a 42% spike in transit emissions.</a:t>
            </a:r>
          </a:p>
          <a:p>
            <a:pPr>
              <a:spcBef>
                <a:spcPts val="2000"/>
              </a:spcBef>
              <a:defRPr sz="1200">
                <a:solidFill>
                  <a:srgbClr val="FFF8F0"/>
                </a:solidFill>
                <a:latin typeface="Arial"/>
              </a:defRPr>
            </a:pPr>
            <a:r>
              <a:t>Civic gridlocks cost the city over ₹2,400 Crore in fuel wastage and lost productivity. The status quo is unsustainable.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HydraTransit: Unified Mobility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Multi-Modal Planner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Real-Time Journey Compiler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Generates the optimal hybrid route mapping (Bus + Metro + Shared Auto) dynamically. Combines multiple transport layers to guarantee the lowest journey times, precise costs, and carbon credit projections.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9184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7432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Unified QR 'HydraPass'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One Wallet. All Transit.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Consolidates transit fares into a single digital ticket. Automatically calculates splits across operators, generating a premium wallet ticket with dynamic anti-fraud security QR animation.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918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7432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Eco Carbon Ledger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Incentivizing Green Commuting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Rewards citizens with Green Credits for selecting low-emission paths. Directly redeemable for physical vouchers at Hyderabad favorites (Niloufer Cafe, Karachi Bakery, Metro fares).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Multi-Modal Route Compiler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32918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Intelligent Leg Assembly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  <a:latin typeface="Arial"/>
              </a:defRPr>
            </a:pPr>
            <a:r>
              <a:t>✔  Hybrid Routing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Coordinates timetables of buses, Metro lines, and micro-mobility simultaneously to guarantee zero wait time.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  <a:latin typeface="Arial"/>
              </a:defRPr>
            </a:pPr>
            <a:r>
              <a:t>✔  GIS Overlay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Plots road-following trajectories directly on a custom CartoDB Dark coordinate canvas using custom vector paths.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  <a:latin typeface="Arial"/>
              </a:defRPr>
            </a:pPr>
            <a:r>
              <a:t>✔  Dynamic Pricing Engine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Aggregates fares across agencies for transparent pricing before booking.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45920"/>
            <a:ext cx="64922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5760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Sample Route: Gachibowli to Secunderabad</a:t>
            </a:r>
          </a:p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  <a:latin typeface="Arial"/>
              </a:defRPr>
            </a:pPr>
            <a:r>
              <a:t>Leg 1: Walk / E-Bike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Origin to Raidurg Metro  •  5 mins • 1.2 km</a:t>
            </a:r>
          </a:p>
          <a:p>
            <a:pPr>
              <a:spcBef>
                <a:spcPts val="400"/>
              </a:spcBef>
              <a:defRPr sz="1300" b="1">
                <a:solidFill>
                  <a:srgbClr val="1E88E5"/>
                </a:solidFill>
                <a:latin typeface="Arial"/>
              </a:defRPr>
            </a:pPr>
            <a:r>
              <a:t>Leg 2: Metro Rail (Blue Line)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Raidurg to Ameerpet Intersect  •  22 mins • 12 km</a:t>
            </a:r>
          </a:p>
          <a:p>
            <a:pPr>
              <a:spcBef>
                <a:spcPts val="400"/>
              </a:spcBef>
              <a:defRPr sz="1300" b="1">
                <a:solidFill>
                  <a:srgbClr val="7B1FA2"/>
                </a:solidFill>
                <a:latin typeface="Arial"/>
              </a:defRPr>
            </a:pPr>
            <a:r>
              <a:t>Leg 3: TSRTC Bus 10H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Ameerpet to Secunderabad Station  •  15 mins • 7.5 km</a:t>
            </a:r>
          </a:p>
          <a:p>
            <a:pPr>
              <a:spcBef>
                <a:spcPts val="400"/>
              </a:spcBef>
              <a:defRPr sz="1300" b="1">
                <a:solidFill>
                  <a:srgbClr val="EA580C"/>
                </a:solidFill>
                <a:latin typeface="Arial"/>
              </a:defRPr>
            </a:pPr>
            <a:r>
              <a:t>Leg 4: E-Auto / Walk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Station to Secunderabad Destination  •  4 mins • 0.8 km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UNIFIED FARE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The HydraPass Canvas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Apple Wallet-Style Architecture</a:t>
            </a:r>
          </a:p>
          <a:p>
            <a:pPr>
              <a:spcBef>
                <a:spcPts val="800"/>
              </a:spcBef>
              <a:defRPr sz="1300" b="1">
                <a:solidFill>
                  <a:srgbClr val="EA580C"/>
                </a:solidFill>
                <a:latin typeface="Arial"/>
              </a:defRPr>
            </a:pPr>
            <a:r>
              <a:t>★  Unified Payment Ledger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Replaces individual passes. Fares are consolidated and dynamically split between TSRTC and Hyderabad Metro Rail instantly.</a:t>
            </a:r>
          </a:p>
          <a:p>
            <a:pPr>
              <a:spcBef>
                <a:spcPts val="800"/>
              </a:spcBef>
              <a:defRPr sz="1300" b="1">
                <a:solidFill>
                  <a:srgbClr val="EA580C"/>
                </a:solidFill>
                <a:latin typeface="Arial"/>
              </a:defRPr>
            </a:pPr>
            <a:r>
              <a:t>★  Zero-Dependency Canvas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Renders passes locally inside HTML5 Canvas with pristine typography and crisp anti-aliased borders (fully offline-first).</a:t>
            </a:r>
          </a:p>
          <a:p>
            <a:pPr>
              <a:spcBef>
                <a:spcPts val="800"/>
              </a:spcBef>
              <a:defRPr sz="1300" b="1">
                <a:solidFill>
                  <a:srgbClr val="EA580C"/>
                </a:solidFill>
                <a:latin typeface="Arial"/>
              </a:defRPr>
            </a:pPr>
            <a:r>
              <a:t>★  Anti-Fraud Neon Scan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Includes an active scanning laser overlay and conic gradient holographic shine effect that spins with gyro tilt to prevent video duplication fraud.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2976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HYDRAPASS • ACTIVE DIGITAL TICKET</a:t>
            </a:r>
          </a:p>
          <a:p>
            <a:pPr>
              <a:spcBef>
                <a:spcPts val="1400"/>
              </a:spcBef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RAIDURG  ➔  SECUNDERABAD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Pass Type: SINGLE JOURNEY  •  Fare: ₹55.00</a:t>
            </a:r>
            <a:br/>
            <a:r>
              <a:t>CO2 Saved: 1.45 kg  •  Green Credits: +15</a:t>
            </a:r>
          </a:p>
          <a:p>
            <a:pPr>
              <a:spcBef>
                <a:spcPts val="2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Secure Verification QR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[ QR CODE SIMULATION : HT-773B-9A2E-41 ]</a:t>
            </a:r>
            <a:br/>
            <a:r>
              <a:t>- Dynamic encryption updates key hash every 15 seconds.</a:t>
            </a:r>
            <a:br/>
            <a:r>
              <a:t>- Integrated with automated physical gates at TSRTC and Metro stations.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GAMIFIED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Eco Carbon Hub &amp; Rewards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Tokenizing Sustainability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◆  Carbon Offset Tracking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Quantifies the environmental impact of every commute. Translates raw metrics into readable kilograms of CO2 saved, calculated instantly by route algorithms.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◆  Gamified Engagement Loops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Commuters build dynamic day streaks for consecutive public transport journeys, multiplying point gains while capping daily rewards to prevent sensor gaming.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◆  Physical Redemption Ledger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Bridges digital carbon credits with real-world value. Points are converted to vouchers redeemable at premier local Hyderabad brands.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4805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Hyderabad Partner Voucher Network</a:t>
            </a:r>
          </a:p>
          <a:p>
            <a:pPr>
              <a:spcBef>
                <a:spcPts val="400"/>
              </a:spcBef>
              <a:defRPr sz="1300" b="1">
                <a:solidFill>
                  <a:srgbClr val="EA580C"/>
                </a:solidFill>
                <a:latin typeface="Arial"/>
              </a:defRPr>
            </a:pPr>
            <a:r>
              <a:t>Niloufer Cafe Chai &amp; Bun  (100 Credits)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Free Irani Chai &amp; Bun Maska at any outlet.</a:t>
            </a:r>
          </a:p>
          <a:p>
            <a:pPr>
              <a:spcBef>
                <a:spcPts val="400"/>
              </a:spcBef>
              <a:defRPr sz="1300" b="1">
                <a:solidFill>
                  <a:srgbClr val="EA580C"/>
                </a:solidFill>
                <a:latin typeface="Arial"/>
              </a:defRPr>
            </a:pPr>
            <a:r>
              <a:t>Karachi Bakery Gift Card  (250 Credits)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₹150 off on Karachi Bakery cookies.</a:t>
            </a:r>
          </a:p>
          <a:p>
            <a:pPr>
              <a:spcBef>
                <a:spcPts val="400"/>
              </a:spcBef>
              <a:defRPr sz="1300" b="1">
                <a:solidFill>
                  <a:srgbClr val="1E88E5"/>
                </a:solidFill>
                <a:latin typeface="Arial"/>
              </a:defRPr>
            </a:pPr>
            <a:r>
              <a:t>Hyderabad Metro Rail Pass  (400 Credits)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Add ₹100 direct transit credit to your pass.</a:t>
            </a:r>
          </a:p>
          <a:p>
            <a:pPr>
              <a:spcBef>
                <a:spcPts val="400"/>
              </a:spcBef>
              <a:defRPr sz="1300" b="1">
                <a:solidFill>
                  <a:srgbClr val="7B1FA2"/>
                </a:solidFill>
                <a:latin typeface="Arial"/>
              </a:defRPr>
            </a:pPr>
            <a:r>
              <a:t>TSRTC Bus Ride Voucher  (180 Credits)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Two free suburban journeys on TSRTC Express.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IOT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Live BLE Carriage Crowding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Bluetooth Coach Telemetry</a:t>
            </a:r>
          </a:p>
          <a:p>
            <a:pPr>
              <a:spcBef>
                <a:spcPts val="800"/>
              </a:spcBef>
              <a:defRPr sz="1300" b="1">
                <a:solidFill>
                  <a:srgbClr val="1E88E5"/>
                </a:solidFill>
                <a:latin typeface="Arial"/>
              </a:defRPr>
            </a:pPr>
            <a:r>
              <a:t>☴  BLE Beacon Scanning Network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Simulates telemetry from Bluetooth Low Energy sensors installed inside Hyderabad Metro Rail coach structures.</a:t>
            </a:r>
          </a:p>
          <a:p>
            <a:pPr>
              <a:spcBef>
                <a:spcPts val="800"/>
              </a:spcBef>
              <a:defRPr sz="1300" b="1">
                <a:solidFill>
                  <a:srgbClr val="1E88E5"/>
                </a:solidFill>
                <a:latin typeface="Arial"/>
              </a:defRPr>
            </a:pPr>
            <a:r>
              <a:t>☴  Density Categorization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Tracks carriage density categorizing carriages into Low (Green), Mid (Yellow), or High (Red) occupancy on the fly.</a:t>
            </a:r>
          </a:p>
          <a:p>
            <a:pPr>
              <a:spcBef>
                <a:spcPts val="800"/>
              </a:spcBef>
              <a:defRPr sz="1300" b="1">
                <a:solidFill>
                  <a:srgbClr val="1E88E5"/>
                </a:solidFill>
                <a:latin typeface="Arial"/>
              </a:defRPr>
            </a:pPr>
            <a:r>
              <a:t>☴  Platform Boarding Optimization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Directs commuters to stand at specific carriage zones on the platform before the train arrives, slashing boarding delays and optimizing passenger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920240"/>
            <a:ext cx="4297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Live Carriage Telemetry Feed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Coach C1 (Ladies)  -  BOARDING RECOMMENDED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Density: 28%  •  Low Crowding</a:t>
            </a:r>
          </a:p>
          <a:p>
            <a:pPr>
              <a:spcBef>
                <a:spcPts val="600"/>
              </a:spcBef>
              <a:defRPr sz="1300" b="1">
                <a:solidFill>
                  <a:srgbClr val="F44336"/>
                </a:solidFill>
                <a:latin typeface="Arial"/>
              </a:defRPr>
            </a:pPr>
            <a:r>
              <a:t>Coach C2 (General)  -  AVOID CARRIAGE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Density: 92%  •  High Crowding</a:t>
            </a:r>
          </a:p>
          <a:p>
            <a:pPr>
              <a:spcBef>
                <a:spcPts val="600"/>
              </a:spcBef>
              <a:defRPr sz="1300" b="1">
                <a:solidFill>
                  <a:srgbClr val="FFC107"/>
                </a:solidFill>
                <a:latin typeface="Arial"/>
              </a:defRPr>
            </a:pPr>
            <a:r>
              <a:t>Coach C3 (General)  -  STANDBY ZONE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Density: 64%  •  Moderate Crowding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Coach C4 (General)  -  BOARDING RECOMMENDED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Density: 34%  •  Low Crowding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CLOUD GIT SPECIAL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New Releases: Inclusivity &amp; Theme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Bilingual Engine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English &amp; Telugu Localization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Ensures high citizen accessibility. Toggles dynamic local UI strings seamlessly between English and Telugu (తెలుగు / ఇంగ్లీష్) catering directly to local commuter preferences across the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91840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7432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Dynamic Theme Engine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Sleek Dark Mode &amp; Clean Light Mode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Fully responsive layout support. Transitions flawlessly from the signature high-tech, glowing dark mode to a high-contrast clean light mode for pristine outdoor sunlight readability.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91840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7432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Collapsible Sidebar Grid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Maximizing Leaflet Map Canvas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Improves screen real-estate significantly. The left control column collapses smoothly on mobile and desktop, automatically scaling the GIS canvas and optimizing route paths dynamically.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SYSTEM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High Performance, Zero Compiler Bloat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Under the Hood Architecture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  <a:latin typeface="Arial"/>
              </a:defRPr>
            </a:pPr>
            <a:r>
              <a:t>◈  Pure HTML5/CSS3 Core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Built without bloated frameworks like React or Tailwind CSS. Delivers extreme performance, zero build steps, and loading times below 300ms on low-end citizen devices.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  <a:latin typeface="Arial"/>
              </a:defRPr>
            </a:pPr>
            <a:r>
              <a:t>◈  Leaflet.js &amp; CartoDB dark matter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Highly performant mobile-friendly mapping layer, utilizing customized vector tiles and coordinate rendering for absolute precision.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  <a:latin typeface="Arial"/>
              </a:defRPr>
            </a:pPr>
            <a:r>
              <a:t>◈  State Persistence Ledger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Synchronizes user wallets, streaks, tickets, and coordinates with browser local storage, safeguarding data during system crashes or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INTEGRATION STACK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✔  Leaflet JS Engine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Vector coordinate routing and real-time markers.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✔  Google Maps Platform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Fuzzy search addresses, Places, and Directions API.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✔  FontAwesome 6.4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Standardized vector interface icons.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✔  HTML5 Canvas API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Security ticket pass &amp; QR generation dynamically.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✔  W3C LocalStorage API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Commuter ledger data local persistence.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✔  CSS Variable Engine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Flawless Light/Dark mode and bilingual layouts.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37160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Trebuchet MS"/>
              </a:defRPr>
            </a:pPr>
            <a:r>
              <a:t>Scaling the Green Grid</a:t>
            </a:r>
          </a:p>
          <a:p>
            <a:pPr>
              <a:spcBef>
                <a:spcPts val="600"/>
              </a:spcBef>
              <a:defRPr sz="1800">
                <a:solidFill>
                  <a:srgbClr val="EA580C"/>
                </a:solidFill>
                <a:latin typeface="Arial"/>
              </a:defRPr>
            </a:pPr>
            <a:r>
              <a:t>HydraTransit Roadmap &amp; Scaling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 Government TSRTC API &amp; Metro Feed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Link our router directly to Hyderabad's live GPS trackers on TSRTC buses &amp; Metro lines for hyper-accurate arrival estimations.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 Telangana Regional Expansion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Export the HydraTransit modular engine to tier-2 cities across the state (Warangal, Nizamabad, Karimnagar).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✔  AI-Driven Demand Forecasting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Leverage machine learning to predict commuter demand at Metro nodes and automatically coordinate electric shared auto clusters.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01752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Thank You!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1600">
                <a:solidFill>
                  <a:srgbClr val="EA580C"/>
                </a:solidFill>
                <a:latin typeface="Arial"/>
              </a:defRPr>
            </a:pPr>
            <a:r>
              <a:t>HydraTransit: Seamless Mobility for Hyderabad</a:t>
            </a:r>
          </a:p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  <a:latin typeface="Arial"/>
              </a:defRPr>
            </a:pPr>
            <a:r>
              <a:t>Let's accelerate Hyderabad's transition to a green, frictionless, zero-emission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